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zh-CN" sz="1200">
        <a:latin typeface="Noto Sans CJK SC"/>
        <a:ea typeface="Noto Sans CJK SC"/>
      </a:defRPr>
    </a:defPPr>
  </p:defaultTextStyle>
</p:presentation>
</file>

<file path=ppt/presProps.xml><?xml version="1.0" encoding="utf-8"?>
<p:presentationPr xmlns:a="http://schemas.openxmlformats.org/drawingml/2006/main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ata_driven_layered_architecture_diagram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75488" y="292608"/>
            <a:ext cx="109728" cy="5806440"/>
          </a:xfrm>
          <a:prstGeom prst="rect">
            <a:avLst/>
          </a:prstGeom>
          <a:solidFill>
            <a:srgbClr val="2C7A6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58368" y="310896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>
              <a:spcAft>
                <a:spcPts val="0"/>
              </a:spcAft>
            </a:pPr>
            <a:r>
              <a:rPr lang="zh-CN" sz="2700" b="1">
                <a:solidFill>
                  <a:srgbClr val="18211F"/>
                </a:solidFill>
                <a:latin typeface="Noto Sans CJK SC"/>
                <a:ea typeface="Noto Sans CJK SC"/>
              </a:rPr>
              <a:t>数据驱动的分层智能挖掘架构</a:t>
            </a:r>
            <a:endParaRPr lang="zh-CN" sz="2700"/>
          </a:p>
        </p:txBody>
      </p:sp>
      <p:sp>
        <p:nvSpPr>
          <p:cNvPr id="4" name="Subtitle"/>
          <p:cNvSpPr txBox="1"/>
          <p:nvPr/>
        </p:nvSpPr>
        <p:spPr>
          <a:xfrm>
            <a:off x="676656" y="786384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>
              <a:spcAft>
                <a:spcPts val="0"/>
              </a:spcAft>
            </a:pPr>
            <a:r>
              <a:rPr lang="zh-CN" sz="1180">
                <a:solidFill>
                  <a:srgbClr val="53605C"/>
                </a:solidFill>
                <a:latin typeface="Noto Sans CJK SC"/>
                <a:ea typeface="Noto Sans CJK SC"/>
              </a:rPr>
              <a:t>用数据学习动作能力，用显式任务层组织长周期作业：目标可解释，执行可泛化，结果可回流。</a:t>
            </a:r>
            <a:endParaRPr lang="zh-CN" sz="1180"/>
          </a:p>
        </p:txBody>
      </p:sp>
      <p:sp>
        <p:nvSpPr>
          <p:cNvPr id="5" name="01  高层“大脑”：任务与意图规划"/>
          <p:cNvSpPr txBox="1"/>
          <p:nvPr/>
        </p:nvSpPr>
        <p:spPr>
          <a:xfrm>
            <a:off x="658368" y="1444752"/>
            <a:ext cx="4663440" cy="1207008"/>
          </a:xfrm>
          <a:prstGeom prst="rect">
            <a:avLst/>
          </a:prstGeom>
          <a:solidFill>
            <a:srgbClr val="EAF4F1"/>
          </a:solidFill>
          <a:ln w="12700">
            <a:solidFill>
              <a:srgbClr val="7CB5AA"/>
            </a:solidFill>
          </a:ln>
        </p:spPr>
        <p:txBody>
          <a:bodyPr wrap="square" anchor="t" lIns="164592" tIns="118872" rIns="146304" bIns="73152"/>
          <a:lstStyle/>
          <a:p>
            <a:pPr marL="0" indent="0">
              <a:spcAft>
                <a:spcPts val="260"/>
              </a:spcAft>
            </a:pPr>
            <a:r>
              <a:rPr lang="zh-CN" sz="1380" b="1">
                <a:solidFill>
                  <a:srgbClr val="1C2423"/>
                </a:solidFill>
                <a:latin typeface="Noto Sans CJK SC"/>
                <a:ea typeface="Noto Sans CJK SC"/>
              </a:rPr>
              <a:t>01  高层“大脑”：任务与意图规划</a:t>
            </a:r>
            <a:endParaRPr lang="zh-CN" sz="1380"/>
          </a:p>
          <a:p>
            <a:pPr marL="0" indent="0">
              <a:spcAft>
                <a:spcPts val="110"/>
              </a:spcAft>
            </a:pPr>
            <a:r>
              <a:rPr lang="zh-CN" sz="1000">
                <a:solidFill>
                  <a:srgbClr val="44524D"/>
                </a:solidFill>
                <a:latin typeface="Noto Sans CJK SC"/>
                <a:ea typeface="Noto Sans CJK SC"/>
              </a:rPr>
              <a:t>• 把作业目标转成下一铲意图：区域、深度、载荷、交接条件</a:t>
            </a:r>
            <a:endParaRPr lang="zh-CN" sz="1000"/>
          </a:p>
          <a:p>
            <a:pPr marL="0" indent="0">
              <a:spcAft>
                <a:spcPts val="110"/>
              </a:spcAft>
            </a:pPr>
            <a:r>
              <a:rPr lang="zh-CN" sz="1000">
                <a:solidFill>
                  <a:srgbClr val="44524D"/>
                </a:solidFill>
                <a:latin typeface="Noto Sans CJK SC"/>
                <a:ea typeface="Noto Sans CJK SC"/>
              </a:rPr>
              <a:t>• 负责失败归因、重规划与节奏控制；不直接输出手柄轨迹</a:t>
            </a:r>
            <a:endParaRPr lang="zh-CN" sz="1000"/>
          </a:p>
        </p:txBody>
      </p:sp>
      <p:sp>
        <p:nvSpPr>
          <p:cNvPr id="6" name="02  低层“小脑”：条件化技能执行"/>
          <p:cNvSpPr txBox="1"/>
          <p:nvPr/>
        </p:nvSpPr>
        <p:spPr>
          <a:xfrm>
            <a:off x="658368" y="2788920"/>
            <a:ext cx="4663440" cy="1207008"/>
          </a:xfrm>
          <a:prstGeom prst="rect">
            <a:avLst/>
          </a:prstGeom>
          <a:solidFill>
            <a:srgbClr val="F8F0E5"/>
          </a:solidFill>
          <a:ln w="12700">
            <a:solidFill>
              <a:srgbClr val="D5AD6C"/>
            </a:solidFill>
          </a:ln>
        </p:spPr>
        <p:txBody>
          <a:bodyPr wrap="square" anchor="t" lIns="164592" tIns="118872" rIns="146304" bIns="73152"/>
          <a:lstStyle/>
          <a:p>
            <a:pPr marL="0" indent="0">
              <a:spcAft>
                <a:spcPts val="260"/>
              </a:spcAft>
            </a:pPr>
            <a:r>
              <a:rPr lang="zh-CN" sz="1380" b="1">
                <a:solidFill>
                  <a:srgbClr val="1C2423"/>
                </a:solidFill>
                <a:latin typeface="Noto Sans CJK SC"/>
                <a:ea typeface="Noto Sans CJK SC"/>
              </a:rPr>
              <a:t>02  低层“小脑”：条件化技能执行</a:t>
            </a:r>
            <a:endParaRPr lang="zh-CN" sz="1380"/>
          </a:p>
          <a:p>
            <a:pPr marL="0" indent="0">
              <a:spcAft>
                <a:spcPts val="110"/>
              </a:spcAft>
            </a:pPr>
            <a:r>
              <a:rPr lang="zh-CN" sz="1000">
                <a:solidFill>
                  <a:srgbClr val="44524D"/>
                </a:solidFill>
                <a:latin typeface="Noto Sans CJK SC"/>
                <a:ea typeface="Noto Sans CJK SC"/>
              </a:rPr>
              <a:t>• 每个技能只学短时域连续动作，输入为图像、机体状态与紧凑条件</a:t>
            </a:r>
            <a:endParaRPr lang="zh-CN" sz="1000"/>
          </a:p>
          <a:p>
            <a:pPr marL="0" indent="0">
              <a:spcAft>
                <a:spcPts val="110"/>
              </a:spcAft>
            </a:pPr>
            <a:r>
              <a:rPr lang="zh-CN" sz="1000">
                <a:solidFill>
                  <a:srgbClr val="44524D"/>
                </a:solidFill>
                <a:latin typeface="Noto Sans CJK SC"/>
                <a:ea typeface="Noto Sans CJK SC"/>
              </a:rPr>
              <a:t>• 用低维契约承接目标，减少内部细节暴露和过拟合风险</a:t>
            </a:r>
            <a:endParaRPr lang="zh-CN" sz="1000"/>
          </a:p>
        </p:txBody>
      </p:sp>
      <p:sp>
        <p:nvSpPr>
          <p:cNvPr id="7" name="03  数据飞轮：从结果事实中学习"/>
          <p:cNvSpPr txBox="1"/>
          <p:nvPr/>
        </p:nvSpPr>
        <p:spPr>
          <a:xfrm>
            <a:off x="658368" y="4133087"/>
            <a:ext cx="4663440" cy="1207008"/>
          </a:xfrm>
          <a:prstGeom prst="rect">
            <a:avLst/>
          </a:prstGeom>
          <a:solidFill>
            <a:srgbClr val="EEF0FA"/>
          </a:solidFill>
          <a:ln w="12700">
            <a:solidFill>
              <a:srgbClr val="A4ABD8"/>
            </a:solidFill>
          </a:ln>
        </p:spPr>
        <p:txBody>
          <a:bodyPr wrap="square" anchor="t" lIns="164592" tIns="118872" rIns="146304" bIns="73152"/>
          <a:lstStyle/>
          <a:p>
            <a:pPr marL="0" indent="0">
              <a:spcAft>
                <a:spcPts val="260"/>
              </a:spcAft>
            </a:pPr>
            <a:r>
              <a:rPr lang="zh-CN" sz="1380" b="1">
                <a:solidFill>
                  <a:srgbClr val="1C2423"/>
                </a:solidFill>
                <a:latin typeface="Noto Sans CJK SC"/>
                <a:ea typeface="Noto Sans CJK SC"/>
              </a:rPr>
              <a:t>03  数据飞轮：从结果事实中学习</a:t>
            </a:r>
            <a:endParaRPr lang="zh-CN" sz="1380"/>
          </a:p>
          <a:p>
            <a:pPr marL="0" indent="0">
              <a:spcAft>
                <a:spcPts val="110"/>
              </a:spcAft>
            </a:pPr>
            <a:r>
              <a:rPr lang="zh-CN" sz="1000">
                <a:solidFill>
                  <a:srgbClr val="44524D"/>
                </a:solidFill>
                <a:latin typeface="Noto Sans CJK SC"/>
                <a:ea typeface="Noto Sans CJK SC"/>
              </a:rPr>
              <a:t>• 专家/仿真轨迹经事件切分生成训练样本，rollout 指标回流</a:t>
            </a:r>
            <a:endParaRPr lang="zh-CN" sz="1000"/>
          </a:p>
          <a:p>
            <a:pPr marL="0" indent="0">
              <a:spcAft>
                <a:spcPts val="110"/>
              </a:spcAft>
            </a:pPr>
            <a:r>
              <a:rPr lang="zh-CN" sz="1000">
                <a:solidFill>
                  <a:srgbClr val="44524D"/>
                </a:solidFill>
                <a:latin typeface="Noto Sans CJK SC"/>
                <a:ea typeface="Noto Sans CJK SC"/>
              </a:rPr>
              <a:t>• payload、覆盖深度、沉积质量、失败原因形成可量化改进信号</a:t>
            </a:r>
            <a:endParaRPr lang="zh-CN" sz="1000"/>
          </a:p>
        </p:txBody>
      </p:sp>
      <p:sp>
        <p:nvSpPr>
          <p:cNvPr id="8" name="Framework Mapping"/>
          <p:cNvSpPr txBox="1"/>
          <p:nvPr/>
        </p:nvSpPr>
        <p:spPr>
          <a:xfrm>
            <a:off x="658368" y="5577840"/>
            <a:ext cx="4663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D8"/>
            </a:solidFill>
          </a:ln>
        </p:spPr>
        <p:txBody>
          <a:bodyPr wrap="square" anchor="t" lIns="128016" tIns="91440" rIns="109728" bIns="54864"/>
          <a:lstStyle/>
          <a:p>
            <a:pPr marL="0" indent="0">
              <a:spcAft>
                <a:spcPts val="0"/>
              </a:spcAft>
            </a:pPr>
            <a:r>
              <a:rPr lang="zh-CN" sz="930">
                <a:solidFill>
                  <a:srgbClr val="59635F"/>
                </a:solidFill>
                <a:latin typeface="Noto Sans CJK SC"/>
                <a:ea typeface="Noto Sans CJK SC"/>
              </a:rPr>
              <a:t>框架映射：data 管事实与样本，planner 管目标与交接，policy 管感知到动作，eval/replay 管闭环验证。</a:t>
            </a:r>
            <a:endParaRPr lang="zh-CN" sz="930"/>
          </a:p>
        </p:txBody>
      </p:sp>
      <p:pic>
        <p:nvPicPr>
          <p:cNvPr id="9" name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161288"/>
            <a:ext cx="5989320" cy="4718304"/>
          </a:xfrm>
          <a:prstGeom prst="rect">
            <a:avLst/>
          </a:prstGeom>
        </p:spPr>
      </p:pic>
      <p:sp>
        <p:nvSpPr>
          <p:cNvPr id="10" name="Footer"/>
          <p:cNvSpPr txBox="1"/>
          <p:nvPr/>
        </p:nvSpPr>
        <p:spPr>
          <a:xfrm>
            <a:off x="5669280" y="5925312"/>
            <a:ext cx="5925312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>
              <a:spcAft>
                <a:spcPts val="0"/>
              </a:spcAft>
            </a:pPr>
            <a:r>
              <a:rPr lang="zh-CN" sz="950">
                <a:solidFill>
                  <a:srgbClr val="6B756F"/>
                </a:solidFill>
                <a:latin typeface="Noto Sans CJK SC"/>
                <a:ea typeface="Noto Sans CJK SC"/>
              </a:rPr>
              <a:t>对外表达边界：讲职责、闭环和可验证指标；不展开代码、阈值、字段名和模型超参。</a:t>
            </a:r>
            <a:endParaRPr lang="zh-CN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Architecture">
  <a:themeElements>
    <a:clrScheme name="Architecture">
      <a:dk1>
        <a:srgbClr val="1C2423"/>
      </a:dk1>
      <a:lt1>
        <a:srgbClr val="FAFBF8"/>
      </a:lt1>
      <a:dk2>
        <a:srgbClr val="44524D"/>
      </a:dk2>
      <a:lt2>
        <a:srgbClr val="FFFFFF"/>
      </a:lt2>
      <a:accent1>
        <a:srgbClr val="2C7A6C"/>
      </a:accent1>
      <a:accent2>
        <a:srgbClr val="B7791F"/>
      </a:accent2>
      <a:accent3>
        <a:srgbClr val="5964A6"/>
      </a:accent3>
      <a:accent4>
        <a:srgbClr val="B34B4B"/>
      </a:accent4>
      <a:accent5>
        <a:srgbClr val="5F7A38"/>
      </a:accent5>
      <a:accent6>
        <a:srgbClr val="336E98"/>
      </a:accent6>
      <a:hlink>
        <a:srgbClr val="336E98"/>
      </a:hlink>
      <a:folHlink>
        <a:srgbClr val="5964A6"/>
      </a:folHlink>
    </a:clrScheme>
    <a:fontScheme name="Noto CJK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lea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数据驱动的分层智能挖掘架构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数据驱动的分层智能挖掘架构</dc:title>
  <dc:creator>Codex</dc:creator>
  <cp:lastModifiedBy>Codex</cp:lastModifiedBy>
  <dcterms:created xsi:type="dcterms:W3CDTF">2026-05-27T09:20:10Z</dcterms:created>
  <dcterms:modified xsi:type="dcterms:W3CDTF">2026-05-27T09:20:10Z</dcterms:modified>
</cp:coreProperties>
</file>